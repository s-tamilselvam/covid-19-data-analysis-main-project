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1" r:id="rId1"/>
  </p:sldMasterIdLst>
  <p:notesMasterIdLst>
    <p:notesMasterId r:id="rId27"/>
  </p:notesMasterIdLst>
  <p:sldIdLst>
    <p:sldId id="257" r:id="rId2"/>
    <p:sldId id="277" r:id="rId3"/>
    <p:sldId id="258" r:id="rId4"/>
    <p:sldId id="259" r:id="rId5"/>
    <p:sldId id="290" r:id="rId6"/>
    <p:sldId id="286" r:id="rId7"/>
    <p:sldId id="260" r:id="rId8"/>
    <p:sldId id="261" r:id="rId9"/>
    <p:sldId id="273" r:id="rId10"/>
    <p:sldId id="262" r:id="rId11"/>
    <p:sldId id="285" r:id="rId12"/>
    <p:sldId id="266" r:id="rId13"/>
    <p:sldId id="287" r:id="rId14"/>
    <p:sldId id="288" r:id="rId15"/>
    <p:sldId id="291" r:id="rId16"/>
    <p:sldId id="289" r:id="rId17"/>
    <p:sldId id="292" r:id="rId18"/>
    <p:sldId id="293" r:id="rId19"/>
    <p:sldId id="294" r:id="rId20"/>
    <p:sldId id="295" r:id="rId21"/>
    <p:sldId id="296" r:id="rId22"/>
    <p:sldId id="271" r:id="rId23"/>
    <p:sldId id="274" r:id="rId24"/>
    <p:sldId id="272" r:id="rId25"/>
    <p:sldId id="275"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26" autoAdjust="0"/>
    <p:restoredTop sz="94394" autoAdjust="0"/>
  </p:normalViewPr>
  <p:slideViewPr>
    <p:cSldViewPr snapToGrid="0">
      <p:cViewPr varScale="1">
        <p:scale>
          <a:sx n="74" d="100"/>
          <a:sy n="74" d="100"/>
        </p:scale>
        <p:origin x="276" y="60"/>
      </p:cViewPr>
      <p:guideLst>
        <p:guide orient="horz" pos="2160"/>
        <p:guide pos="3840"/>
      </p:guideLst>
    </p:cSldViewPr>
  </p:slideViewPr>
  <p:outlineViewPr>
    <p:cViewPr>
      <p:scale>
        <a:sx n="33" d="100"/>
        <a:sy n="33" d="100"/>
      </p:scale>
      <p:origin x="0" y="-730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A61C78-9717-4D4D-B1D3-C7EFBA392A44}" type="datetimeFigureOut">
              <a:rPr lang="en-IN" smtClean="0"/>
              <a:t>29-03-2024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EAF0F4-E850-4EF6-8AAE-23314ABCF613}" type="slidenum">
              <a:rPr lang="en-IN" smtClean="0"/>
              <a:t>‹#›</a:t>
            </a:fld>
            <a:endParaRPr lang="en-IN"/>
          </a:p>
        </p:txBody>
      </p:sp>
    </p:spTree>
    <p:extLst>
      <p:ext uri="{BB962C8B-B14F-4D97-AF65-F5344CB8AC3E}">
        <p14:creationId xmlns:p14="http://schemas.microsoft.com/office/powerpoint/2010/main" val="832929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EAF0F4-E850-4EF6-8AAE-23314ABCF613}" type="slidenum">
              <a:rPr lang="en-IN" smtClean="0"/>
              <a:t>1</a:t>
            </a:fld>
            <a:endParaRPr lang="en-IN"/>
          </a:p>
        </p:txBody>
      </p:sp>
    </p:spTree>
    <p:extLst>
      <p:ext uri="{BB962C8B-B14F-4D97-AF65-F5344CB8AC3E}">
        <p14:creationId xmlns:p14="http://schemas.microsoft.com/office/powerpoint/2010/main" val="2513385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3241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val="1137523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0354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pPr/>
              <a:t>3/29/2024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val="3430049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3743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6919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9403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3/29/2024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val="2522368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7609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8629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635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49388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302272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18285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val="119956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80448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3/29/2024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11555948"/>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25769" y="2627290"/>
            <a:ext cx="9359606" cy="3876540"/>
          </a:xfrm>
          <a:ln>
            <a:noFill/>
          </a:ln>
          <a:effectLst>
            <a:outerShdw blurRad="50800" dist="38100" dir="5400000" algn="t"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a:normAutofit/>
          </a:bodyPr>
          <a:lstStyle/>
          <a:p>
            <a:pPr algn="ctr"/>
            <a:r>
              <a:rPr lang="en-US" sz="4400" b="1" dirty="0">
                <a:ln w="6600">
                  <a:solidFill>
                    <a:schemeClr val="accent2"/>
                  </a:solidFill>
                  <a:prstDash val="solid"/>
                </a:ln>
                <a:solidFill>
                  <a:srgbClr val="FFFFFF"/>
                </a:solidFill>
                <a:effectLst>
                  <a:outerShdw dist="38100" dir="2700000" algn="tl" rotWithShape="0">
                    <a:schemeClr val="accent2"/>
                  </a:outerShdw>
                </a:effectLst>
                <a:cs typeface="Times New Roman" panose="02020603050405020304" pitchFamily="18" charset="0"/>
              </a:rPr>
              <a:t>Covid-19 Data Analysis and Visualization using Data science</a:t>
            </a:r>
          </a:p>
        </p:txBody>
      </p:sp>
      <p:pic>
        <p:nvPicPr>
          <p:cNvPr id="1026" name="Picture 2" descr="Thirumalai Engineering College – The Right Place to Enrich Your Career">
            <a:extLst>
              <a:ext uri="{FF2B5EF4-FFF2-40B4-BE49-F238E27FC236}">
                <a16:creationId xmlns:a16="http://schemas.microsoft.com/office/drawing/2014/main" id="{CABA551B-08D9-CC07-265E-0EF0381288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38142" y="897392"/>
            <a:ext cx="1497598" cy="146861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nna University - Wikipedia">
            <a:extLst>
              <a:ext uri="{FF2B5EF4-FFF2-40B4-BE49-F238E27FC236}">
                <a16:creationId xmlns:a16="http://schemas.microsoft.com/office/drawing/2014/main" id="{51CD2C6E-B511-34D1-9C3D-F4C67C6508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1410" y="897392"/>
            <a:ext cx="1497597" cy="1331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099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B3D602-C1BB-EB20-01FF-AC2B9D4EA46E}"/>
              </a:ext>
            </a:extLst>
          </p:cNvPr>
          <p:cNvSpPr>
            <a:spLocks noGrp="1"/>
          </p:cNvSpPr>
          <p:nvPr>
            <p:ph type="title"/>
          </p:nvPr>
        </p:nvSpPr>
        <p:spPr>
          <a:xfrm>
            <a:off x="1262326" y="293770"/>
            <a:ext cx="8596668" cy="1725684"/>
          </a:xfrm>
        </p:spPr>
        <p:txBody>
          <a:bodyPr>
            <a:normAutofit fontScale="90000"/>
          </a:bodyPr>
          <a:lstStyle/>
          <a:p>
            <a:pPr algn="ctr"/>
            <a:r>
              <a:rPr lang="en-US" sz="3100" b="1" u="sng" dirty="0">
                <a:solidFill>
                  <a:schemeClr val="accent4">
                    <a:lumMod val="50000"/>
                  </a:schemeClr>
                </a:solidFill>
              </a:rPr>
              <a:t>5132 - Thirumalai Engineering College</a:t>
            </a:r>
            <a:br>
              <a:rPr lang="en-US" sz="3100" b="1" u="sng" dirty="0">
                <a:solidFill>
                  <a:schemeClr val="accent4">
                    <a:lumMod val="50000"/>
                  </a:schemeClr>
                </a:solidFill>
              </a:rPr>
            </a:br>
            <a:r>
              <a:rPr lang="en-US" sz="3100" b="1" u="sng" dirty="0">
                <a:solidFill>
                  <a:schemeClr val="accent4">
                    <a:lumMod val="50000"/>
                  </a:schemeClr>
                </a:solidFill>
              </a:rPr>
              <a:t>Kilambi, Kanchipuram.</a:t>
            </a:r>
            <a:br>
              <a:rPr lang="en-US" sz="3100" b="1" u="sng" dirty="0">
                <a:solidFill>
                  <a:schemeClr val="accent4">
                    <a:lumMod val="50000"/>
                  </a:schemeClr>
                </a:solidFill>
              </a:rPr>
            </a:br>
            <a:r>
              <a:rPr lang="en-US" sz="3100" b="1" u="sng" dirty="0">
                <a:solidFill>
                  <a:schemeClr val="accent4">
                    <a:lumMod val="50000"/>
                  </a:schemeClr>
                </a:solidFill>
              </a:rPr>
              <a:t>Department of Information Technology</a:t>
            </a:r>
            <a:br>
              <a:rPr lang="en-US" sz="2000" b="1" u="sng" dirty="0">
                <a:solidFill>
                  <a:schemeClr val="accent4">
                    <a:lumMod val="50000"/>
                  </a:schemeClr>
                </a:solidFill>
              </a:rPr>
            </a:br>
            <a:br>
              <a:rPr lang="en-US" sz="2000" b="1" u="sng" dirty="0">
                <a:solidFill>
                  <a:schemeClr val="accent4">
                    <a:lumMod val="50000"/>
                  </a:schemeClr>
                </a:solidFill>
              </a:rPr>
            </a:br>
            <a:r>
              <a:rPr lang="en-US" sz="3100" b="1" u="sng" dirty="0">
                <a:solidFill>
                  <a:schemeClr val="accent2"/>
                </a:solidFill>
              </a:rPr>
              <a:t>Team member</a:t>
            </a:r>
            <a:endParaRPr lang="en-US" sz="2000" b="1" u="sng" dirty="0">
              <a:solidFill>
                <a:schemeClr val="accent2"/>
              </a:solidFill>
            </a:endParaRPr>
          </a:p>
        </p:txBody>
      </p:sp>
      <p:sp>
        <p:nvSpPr>
          <p:cNvPr id="5" name="Text Placeholder 4">
            <a:extLst>
              <a:ext uri="{FF2B5EF4-FFF2-40B4-BE49-F238E27FC236}">
                <a16:creationId xmlns:a16="http://schemas.microsoft.com/office/drawing/2014/main" id="{8169A8C4-A144-C79C-12A1-343FC704F478}"/>
              </a:ext>
            </a:extLst>
          </p:cNvPr>
          <p:cNvSpPr>
            <a:spLocks noGrp="1"/>
          </p:cNvSpPr>
          <p:nvPr>
            <p:ph type="body" idx="1"/>
          </p:nvPr>
        </p:nvSpPr>
        <p:spPr/>
        <p:txBody>
          <a:bodyPr/>
          <a:lstStyle/>
          <a:p>
            <a:r>
              <a:rPr lang="en-US" dirty="0"/>
              <a:t>          Name</a:t>
            </a:r>
          </a:p>
        </p:txBody>
      </p:sp>
      <p:sp>
        <p:nvSpPr>
          <p:cNvPr id="8" name="Content Placeholder 7">
            <a:extLst>
              <a:ext uri="{FF2B5EF4-FFF2-40B4-BE49-F238E27FC236}">
                <a16:creationId xmlns:a16="http://schemas.microsoft.com/office/drawing/2014/main" id="{F95A3997-E577-35BD-6A14-8AC6164AA4B3}"/>
              </a:ext>
            </a:extLst>
          </p:cNvPr>
          <p:cNvSpPr>
            <a:spLocks noGrp="1"/>
          </p:cNvSpPr>
          <p:nvPr>
            <p:ph sz="quarter" idx="4"/>
          </p:nvPr>
        </p:nvSpPr>
        <p:spPr>
          <a:xfrm>
            <a:off x="4861368" y="2737245"/>
            <a:ext cx="5742942" cy="3581668"/>
          </a:xfrm>
        </p:spPr>
        <p:txBody>
          <a:bodyPr>
            <a:normAutofit/>
          </a:bodyPr>
          <a:lstStyle/>
          <a:p>
            <a:pPr algn="ctr"/>
            <a:r>
              <a:rPr lang="en-US" sz="2400" dirty="0"/>
              <a:t>513220205006</a:t>
            </a:r>
          </a:p>
          <a:p>
            <a:pPr algn="ctr"/>
            <a:r>
              <a:rPr lang="en-US" sz="2400" dirty="0"/>
              <a:t>513220205306</a:t>
            </a:r>
          </a:p>
          <a:p>
            <a:pPr algn="ctr"/>
            <a:r>
              <a:rPr lang="en-US" sz="2400" dirty="0"/>
              <a:t>513220205003</a:t>
            </a:r>
          </a:p>
          <a:p>
            <a:pPr algn="ctr"/>
            <a:endParaRPr lang="en-US" dirty="0"/>
          </a:p>
          <a:p>
            <a:pPr algn="ctr"/>
            <a:endParaRPr lang="en-US" dirty="0"/>
          </a:p>
          <a:p>
            <a:pPr marL="0" indent="0" algn="ctr">
              <a:buNone/>
            </a:pPr>
            <a:r>
              <a:rPr lang="en-US" sz="2800" b="1" dirty="0">
                <a:solidFill>
                  <a:srgbClr val="002060"/>
                </a:solidFill>
                <a:latin typeface="+mj-lt"/>
              </a:rPr>
              <a:t>COORDINATER</a:t>
            </a:r>
          </a:p>
          <a:p>
            <a:pPr marL="0" indent="0" algn="ctr">
              <a:buNone/>
            </a:pPr>
            <a:r>
              <a:rPr lang="en-US" sz="2800" b="1">
                <a:solidFill>
                  <a:srgbClr val="002060"/>
                </a:solidFill>
                <a:latin typeface="+mj-lt"/>
              </a:rPr>
              <a:t>MRS.S. </a:t>
            </a:r>
            <a:r>
              <a:rPr lang="en-US" sz="2800" b="1" dirty="0">
                <a:solidFill>
                  <a:srgbClr val="002060"/>
                </a:solidFill>
                <a:latin typeface="+mj-lt"/>
              </a:rPr>
              <a:t>HEMALATHA ME.,</a:t>
            </a:r>
            <a:r>
              <a:rPr lang="en-US" sz="2800" b="1" dirty="0">
                <a:solidFill>
                  <a:srgbClr val="002060"/>
                </a:solidFill>
                <a:latin typeface="Lucida Calligraphy" panose="03010101010101010101" pitchFamily="66" charset="0"/>
              </a:rPr>
              <a:t> </a:t>
            </a:r>
          </a:p>
        </p:txBody>
      </p:sp>
      <p:sp>
        <p:nvSpPr>
          <p:cNvPr id="7" name="Text Placeholder 6">
            <a:extLst>
              <a:ext uri="{FF2B5EF4-FFF2-40B4-BE49-F238E27FC236}">
                <a16:creationId xmlns:a16="http://schemas.microsoft.com/office/drawing/2014/main" id="{306C1D59-A3B4-D038-111E-A0602AFE0618}"/>
              </a:ext>
            </a:extLst>
          </p:cNvPr>
          <p:cNvSpPr>
            <a:spLocks noGrp="1"/>
          </p:cNvSpPr>
          <p:nvPr>
            <p:ph type="body" sz="quarter" idx="3"/>
          </p:nvPr>
        </p:nvSpPr>
        <p:spPr/>
        <p:txBody>
          <a:bodyPr/>
          <a:lstStyle/>
          <a:p>
            <a:r>
              <a:rPr lang="en-US" dirty="0"/>
              <a:t>                 Register Number</a:t>
            </a:r>
          </a:p>
        </p:txBody>
      </p:sp>
      <p:sp>
        <p:nvSpPr>
          <p:cNvPr id="6" name="Content Placeholder 5">
            <a:extLst>
              <a:ext uri="{FF2B5EF4-FFF2-40B4-BE49-F238E27FC236}">
                <a16:creationId xmlns:a16="http://schemas.microsoft.com/office/drawing/2014/main" id="{947ECD5B-08B9-79E9-8F9F-68F8B0919FC5}"/>
              </a:ext>
            </a:extLst>
          </p:cNvPr>
          <p:cNvSpPr>
            <a:spLocks noGrp="1"/>
          </p:cNvSpPr>
          <p:nvPr>
            <p:ph sz="half" idx="2"/>
          </p:nvPr>
        </p:nvSpPr>
        <p:spPr>
          <a:xfrm>
            <a:off x="902760" y="2720417"/>
            <a:ext cx="4185623" cy="1590326"/>
          </a:xfrm>
        </p:spPr>
        <p:txBody>
          <a:bodyPr>
            <a:normAutofit/>
          </a:bodyPr>
          <a:lstStyle/>
          <a:p>
            <a:r>
              <a:rPr lang="en-US" sz="2400" dirty="0" err="1"/>
              <a:t>S.Tamilselvam</a:t>
            </a:r>
            <a:endParaRPr lang="en-US" sz="2400" dirty="0"/>
          </a:p>
          <a:p>
            <a:r>
              <a:rPr lang="en-US" sz="2400" dirty="0" err="1"/>
              <a:t>D.Olimani</a:t>
            </a:r>
            <a:endParaRPr lang="en-US" sz="2400" dirty="0"/>
          </a:p>
          <a:p>
            <a:r>
              <a:rPr lang="en-US" sz="2400" dirty="0" err="1"/>
              <a:t>K.Madhan</a:t>
            </a:r>
            <a:endParaRPr lang="en-US" sz="2400" dirty="0"/>
          </a:p>
          <a:p>
            <a:pPr marL="0" indent="0">
              <a:buNone/>
            </a:pPr>
            <a:endParaRPr lang="en-US" sz="2000" dirty="0"/>
          </a:p>
          <a:p>
            <a:endParaRPr lang="en-US" dirty="0"/>
          </a:p>
        </p:txBody>
      </p:sp>
      <p:pic>
        <p:nvPicPr>
          <p:cNvPr id="2050" name="Picture 2" descr="Anna University - Wikipedia">
            <a:extLst>
              <a:ext uri="{FF2B5EF4-FFF2-40B4-BE49-F238E27FC236}">
                <a16:creationId xmlns:a16="http://schemas.microsoft.com/office/drawing/2014/main" id="{66E303B7-0BFF-67C6-A481-1EA8034958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878" y="539086"/>
            <a:ext cx="1383316" cy="135410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hirumalai Engineering College – The Right Place to Enrich Your Career">
            <a:extLst>
              <a:ext uri="{FF2B5EF4-FFF2-40B4-BE49-F238E27FC236}">
                <a16:creationId xmlns:a16="http://schemas.microsoft.com/office/drawing/2014/main" id="{EF75A34C-7E30-263F-0D6A-0F09BA209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9762" y="539087"/>
            <a:ext cx="1662359" cy="1354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311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767" y="1100919"/>
            <a:ext cx="8596668" cy="356315"/>
          </a:xfrm>
        </p:spPr>
        <p:txBody>
          <a:bodyPr>
            <a:noAutofit/>
          </a:bodyPr>
          <a:lstStyle/>
          <a:p>
            <a:r>
              <a:rPr lang="en-US" sz="2800" dirty="0">
                <a:solidFill>
                  <a:schemeClr val="accent4">
                    <a:lumMod val="50000"/>
                  </a:schemeClr>
                </a:solidFill>
              </a:rPr>
              <a:t>INTRODUCTION</a:t>
            </a:r>
          </a:p>
        </p:txBody>
      </p:sp>
      <p:sp>
        <p:nvSpPr>
          <p:cNvPr id="3" name="Content Placeholder 2"/>
          <p:cNvSpPr>
            <a:spLocks noGrp="1"/>
          </p:cNvSpPr>
          <p:nvPr>
            <p:ph idx="1"/>
          </p:nvPr>
        </p:nvSpPr>
        <p:spPr>
          <a:xfrm>
            <a:off x="1086767" y="1669143"/>
            <a:ext cx="8890736" cy="4920343"/>
          </a:xfrm>
        </p:spPr>
        <p:txBody>
          <a:bodyPr>
            <a:noAutofit/>
          </a:bodyPr>
          <a:lstStyle/>
          <a:p>
            <a:pPr algn="just"/>
            <a:r>
              <a:rPr lang="en-GB" sz="2200" dirty="0"/>
              <a:t>WHO has declared the COVID-19 as a pandemic. A pandemic is defined as disease spread over a wide range of geographical area and that has affected high proportion of the population.</a:t>
            </a:r>
          </a:p>
          <a:p>
            <a:pPr algn="just"/>
            <a:r>
              <a:rPr lang="en-GB" sz="2200" dirty="0"/>
              <a:t>A COVID-19 data analysis and visualization project using data science aims to explore trends, patterns, and insights within pandemic-related datasets. </a:t>
            </a:r>
          </a:p>
          <a:p>
            <a:pPr algn="just"/>
            <a:r>
              <a:rPr lang="en-GB" sz="2200" dirty="0"/>
              <a:t>The project will help us in recognizing the insights that will be gained by using machine learning algorithms on the data.</a:t>
            </a:r>
          </a:p>
          <a:p>
            <a:pPr algn="just"/>
            <a:r>
              <a:rPr lang="en-GB" sz="2200" dirty="0"/>
              <a:t>This interdisciplinary approach combines public health knowledge, data processing skills, and visualization expertise to contribute valuable insights in managing and understanding the ongoing pandemic.</a:t>
            </a:r>
            <a:endParaRPr lang="en-US" sz="2200" dirty="0"/>
          </a:p>
        </p:txBody>
      </p:sp>
    </p:spTree>
    <p:extLst>
      <p:ext uri="{BB962C8B-B14F-4D97-AF65-F5344CB8AC3E}">
        <p14:creationId xmlns:p14="http://schemas.microsoft.com/office/powerpoint/2010/main" val="628582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218" y="609600"/>
            <a:ext cx="8468784" cy="330558"/>
          </a:xfrm>
        </p:spPr>
        <p:txBody>
          <a:bodyPr>
            <a:noAutofit/>
          </a:bodyPr>
          <a:lstStyle/>
          <a:p>
            <a:r>
              <a:rPr lang="en-US" sz="2800" dirty="0">
                <a:solidFill>
                  <a:schemeClr val="accent3">
                    <a:lumMod val="50000"/>
                  </a:schemeClr>
                </a:solidFill>
              </a:rPr>
              <a:t>ABSTRACTION</a:t>
            </a:r>
          </a:p>
        </p:txBody>
      </p:sp>
      <p:sp>
        <p:nvSpPr>
          <p:cNvPr id="3" name="Content Placeholder 2"/>
          <p:cNvSpPr>
            <a:spLocks noGrp="1"/>
          </p:cNvSpPr>
          <p:nvPr>
            <p:ph idx="1"/>
          </p:nvPr>
        </p:nvSpPr>
        <p:spPr>
          <a:xfrm>
            <a:off x="909346" y="1327499"/>
            <a:ext cx="8596668" cy="4920901"/>
          </a:xfrm>
        </p:spPr>
        <p:txBody>
          <a:bodyPr>
            <a:normAutofit fontScale="92500" lnSpcReduction="10000"/>
          </a:bodyPr>
          <a:lstStyle/>
          <a:p>
            <a:r>
              <a:rPr lang="en-GB" sz="2400" dirty="0"/>
              <a:t>This COVID-19 data analysis and visualization project utilizes advanced data science methodologies to examine and interpret diverse datasets related to the pandemic situation.</a:t>
            </a:r>
          </a:p>
          <a:p>
            <a:r>
              <a:rPr lang="en-GB" sz="2400" dirty="0"/>
              <a:t>It is most contagious in starting of first three days after the onset of symptoms, although spread is even possible before symptoms appear, and from people who do not show symptoms.</a:t>
            </a:r>
          </a:p>
          <a:p>
            <a:r>
              <a:rPr lang="en-GB" sz="2400" dirty="0"/>
              <a:t>The project will help in analysing and recognizing the insights that will be gained by using the Technologies Python and Tableau.</a:t>
            </a:r>
          </a:p>
          <a:p>
            <a:r>
              <a:rPr lang="en-GB" sz="2400" dirty="0"/>
              <a:t>It is used to make all the visualizations which are displayed on the dashboard, these insights will help in identifying and giving an idea of how the number of covid cases are impacted as possibility of being diagnosed positive on the basis of the symptoms. </a:t>
            </a:r>
            <a:endParaRPr lang="en-US" sz="2400" dirty="0"/>
          </a:p>
        </p:txBody>
      </p:sp>
    </p:spTree>
    <p:extLst>
      <p:ext uri="{BB962C8B-B14F-4D97-AF65-F5344CB8AC3E}">
        <p14:creationId xmlns:p14="http://schemas.microsoft.com/office/powerpoint/2010/main" val="4188948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chemeClr val="accent3">
                    <a:lumMod val="50000"/>
                  </a:schemeClr>
                </a:solidFill>
              </a:rPr>
              <a:t>SCOPE</a:t>
            </a:r>
          </a:p>
        </p:txBody>
      </p:sp>
      <p:sp>
        <p:nvSpPr>
          <p:cNvPr id="3" name="Content Placeholder 2"/>
          <p:cNvSpPr>
            <a:spLocks noGrp="1"/>
          </p:cNvSpPr>
          <p:nvPr>
            <p:ph idx="1"/>
          </p:nvPr>
        </p:nvSpPr>
        <p:spPr>
          <a:xfrm>
            <a:off x="1201590" y="1767840"/>
            <a:ext cx="8596668" cy="4157472"/>
          </a:xfrm>
        </p:spPr>
        <p:txBody>
          <a:bodyPr>
            <a:normAutofit/>
          </a:bodyPr>
          <a:lstStyle/>
          <a:p>
            <a:r>
              <a:rPr lang="en-US" sz="2400" dirty="0"/>
              <a:t>Predictive the data</a:t>
            </a:r>
          </a:p>
          <a:p>
            <a:r>
              <a:rPr lang="en-US" sz="2400" dirty="0"/>
              <a:t>Real-time data monitoring</a:t>
            </a:r>
          </a:p>
          <a:p>
            <a:r>
              <a:rPr lang="en-US" sz="2400" dirty="0"/>
              <a:t>Public health recommendations</a:t>
            </a:r>
          </a:p>
          <a:p>
            <a:r>
              <a:rPr lang="en-US" sz="2400" dirty="0"/>
              <a:t>Visualization development</a:t>
            </a:r>
          </a:p>
          <a:p>
            <a:r>
              <a:rPr lang="en-US" sz="2400" dirty="0"/>
              <a:t>Decision making to health sectors.</a:t>
            </a:r>
          </a:p>
        </p:txBody>
      </p:sp>
    </p:spTree>
    <p:extLst>
      <p:ext uri="{BB962C8B-B14F-4D97-AF65-F5344CB8AC3E}">
        <p14:creationId xmlns:p14="http://schemas.microsoft.com/office/powerpoint/2010/main" val="53349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CEB25-C312-27E8-7898-A1D2DBC44B3F}"/>
              </a:ext>
            </a:extLst>
          </p:cNvPr>
          <p:cNvSpPr>
            <a:spLocks noGrp="1"/>
          </p:cNvSpPr>
          <p:nvPr>
            <p:ph type="title"/>
          </p:nvPr>
        </p:nvSpPr>
        <p:spPr>
          <a:xfrm>
            <a:off x="677334" y="816636"/>
            <a:ext cx="8596668" cy="1113763"/>
          </a:xfrm>
        </p:spPr>
        <p:txBody>
          <a:bodyPr>
            <a:normAutofit/>
          </a:bodyPr>
          <a:lstStyle/>
          <a:p>
            <a:r>
              <a:rPr lang="en-IN" sz="2800" dirty="0">
                <a:solidFill>
                  <a:schemeClr val="accent3">
                    <a:lumMod val="50000"/>
                  </a:schemeClr>
                </a:solidFill>
              </a:rPr>
              <a:t>DATA SET</a:t>
            </a:r>
            <a:endParaRPr lang="en-US" sz="2800" dirty="0">
              <a:solidFill>
                <a:schemeClr val="accent3">
                  <a:lumMod val="50000"/>
                </a:schemeClr>
              </a:solidFill>
            </a:endParaRPr>
          </a:p>
        </p:txBody>
      </p:sp>
      <p:sp>
        <p:nvSpPr>
          <p:cNvPr id="3" name="Content Placeholder 2">
            <a:extLst>
              <a:ext uri="{FF2B5EF4-FFF2-40B4-BE49-F238E27FC236}">
                <a16:creationId xmlns:a16="http://schemas.microsoft.com/office/drawing/2014/main" id="{08110D2B-0927-8D41-7411-AFE9ACCAA8E9}"/>
              </a:ext>
            </a:extLst>
          </p:cNvPr>
          <p:cNvSpPr>
            <a:spLocks noGrp="1"/>
          </p:cNvSpPr>
          <p:nvPr>
            <p:ph idx="1"/>
          </p:nvPr>
        </p:nvSpPr>
        <p:spPr>
          <a:xfrm>
            <a:off x="677334" y="1930399"/>
            <a:ext cx="8596668" cy="4302976"/>
          </a:xfrm>
        </p:spPr>
        <p:txBody>
          <a:bodyPr>
            <a:normAutofit/>
          </a:bodyPr>
          <a:lstStyle/>
          <a:p>
            <a:pPr algn="just">
              <a:lnSpc>
                <a:spcPct val="150000"/>
              </a:lnSpc>
            </a:pPr>
            <a:r>
              <a:rPr lang="en-IN" sz="2400" dirty="0"/>
              <a:t>The dataset selected is Covid-19_line_list_data.</a:t>
            </a:r>
          </a:p>
          <a:p>
            <a:pPr algn="just">
              <a:lnSpc>
                <a:spcPct val="150000"/>
              </a:lnSpc>
            </a:pPr>
            <a:r>
              <a:rPr lang="en-IN" sz="2400" dirty="0"/>
              <a:t>Information provided deals with cases in country, reporting date with respect to countries while also nothing down the symptoms along with recovery and health rate of people.</a:t>
            </a:r>
          </a:p>
          <a:p>
            <a:pPr algn="just">
              <a:lnSpc>
                <a:spcPct val="150000"/>
              </a:lnSpc>
            </a:pPr>
            <a:r>
              <a:rPr lang="en-IN" sz="2400" dirty="0"/>
              <a:t>The objective is to find the age group affected and the place largely affected.</a:t>
            </a:r>
            <a:endParaRPr lang="en-US" sz="2400" dirty="0"/>
          </a:p>
        </p:txBody>
      </p:sp>
    </p:spTree>
    <p:extLst>
      <p:ext uri="{BB962C8B-B14F-4D97-AF65-F5344CB8AC3E}">
        <p14:creationId xmlns:p14="http://schemas.microsoft.com/office/powerpoint/2010/main" val="1350720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590" y="1046827"/>
            <a:ext cx="8596668" cy="1320800"/>
          </a:xfrm>
        </p:spPr>
        <p:txBody>
          <a:bodyPr>
            <a:normAutofit/>
          </a:bodyPr>
          <a:lstStyle/>
          <a:p>
            <a:r>
              <a:rPr lang="en-GB" sz="2800" dirty="0">
                <a:solidFill>
                  <a:schemeClr val="accent3">
                    <a:lumMod val="50000"/>
                  </a:schemeClr>
                </a:solidFill>
              </a:rPr>
              <a:t>Existing System</a:t>
            </a:r>
            <a:br>
              <a:rPr lang="en-GB" sz="2000" dirty="0"/>
            </a:br>
            <a:endParaRPr lang="en-US" sz="2000" dirty="0"/>
          </a:p>
        </p:txBody>
      </p:sp>
      <p:sp>
        <p:nvSpPr>
          <p:cNvPr id="3" name="Content Placeholder 2"/>
          <p:cNvSpPr>
            <a:spLocks noGrp="1"/>
          </p:cNvSpPr>
          <p:nvPr>
            <p:ph idx="1"/>
          </p:nvPr>
        </p:nvSpPr>
        <p:spPr>
          <a:xfrm>
            <a:off x="1056306" y="1930400"/>
            <a:ext cx="8596668" cy="4218940"/>
          </a:xfrm>
        </p:spPr>
        <p:txBody>
          <a:bodyPr>
            <a:normAutofit/>
          </a:bodyPr>
          <a:lstStyle/>
          <a:p>
            <a:r>
              <a:rPr lang="en-GB" sz="2400" dirty="0"/>
              <a:t>As of my last update in January 2023, several existing systems and projects focused on COVID-19 data analysis and visualization using data science techniques.</a:t>
            </a:r>
          </a:p>
          <a:p>
            <a:r>
              <a:rPr lang="en-GB" sz="2400" dirty="0"/>
              <a:t>The status and availability of these projects may have changed, and new projects may have emerged since then.</a:t>
            </a:r>
          </a:p>
          <a:p>
            <a:r>
              <a:rPr lang="en-GB" sz="2400" dirty="0"/>
              <a:t>Some criteria are like Covid-19 dashboard, Covid  Data Tracker(CDT), Predict and analysis for approximation and assumption.</a:t>
            </a:r>
          </a:p>
          <a:p>
            <a:r>
              <a:rPr lang="en-GB" sz="2400" dirty="0"/>
              <a:t>These are more critical to analysis the datasets in our project.</a:t>
            </a:r>
            <a:endParaRPr lang="en-US" sz="2400" dirty="0"/>
          </a:p>
        </p:txBody>
      </p:sp>
    </p:spTree>
    <p:extLst>
      <p:ext uri="{BB962C8B-B14F-4D97-AF65-F5344CB8AC3E}">
        <p14:creationId xmlns:p14="http://schemas.microsoft.com/office/powerpoint/2010/main" val="2572133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2B21-8531-5A2B-AB2E-72327A6AB986}"/>
              </a:ext>
            </a:extLst>
          </p:cNvPr>
          <p:cNvSpPr>
            <a:spLocks noGrp="1"/>
          </p:cNvSpPr>
          <p:nvPr>
            <p:ph type="title"/>
          </p:nvPr>
        </p:nvSpPr>
        <p:spPr>
          <a:xfrm>
            <a:off x="677334" y="1004552"/>
            <a:ext cx="8596668" cy="925847"/>
          </a:xfrm>
        </p:spPr>
        <p:txBody>
          <a:bodyPr>
            <a:normAutofit/>
          </a:bodyPr>
          <a:lstStyle/>
          <a:p>
            <a:r>
              <a:rPr lang="en-GB" sz="2800" dirty="0">
                <a:solidFill>
                  <a:schemeClr val="accent3">
                    <a:lumMod val="50000"/>
                  </a:schemeClr>
                </a:solidFill>
              </a:rPr>
              <a:t>Proposed System</a:t>
            </a:r>
            <a:br>
              <a:rPr lang="en-GB" sz="2000" dirty="0"/>
            </a:br>
            <a:endParaRPr lang="en-US" sz="2000" dirty="0"/>
          </a:p>
        </p:txBody>
      </p:sp>
      <p:sp>
        <p:nvSpPr>
          <p:cNvPr id="3" name="Content Placeholder 2">
            <a:extLst>
              <a:ext uri="{FF2B5EF4-FFF2-40B4-BE49-F238E27FC236}">
                <a16:creationId xmlns:a16="http://schemas.microsoft.com/office/drawing/2014/main" id="{F20DAA10-BEFB-71E2-213A-2CFDB3C823EE}"/>
              </a:ext>
            </a:extLst>
          </p:cNvPr>
          <p:cNvSpPr>
            <a:spLocks noGrp="1"/>
          </p:cNvSpPr>
          <p:nvPr>
            <p:ph idx="1"/>
          </p:nvPr>
        </p:nvSpPr>
        <p:spPr>
          <a:xfrm>
            <a:off x="677334" y="1481070"/>
            <a:ext cx="8596668" cy="4919730"/>
          </a:xfrm>
        </p:spPr>
        <p:txBody>
          <a:bodyPr>
            <a:normAutofit/>
          </a:bodyPr>
          <a:lstStyle/>
          <a:p>
            <a:endParaRPr lang="en-US" sz="2000" dirty="0"/>
          </a:p>
          <a:p>
            <a:r>
              <a:rPr lang="en-US" sz="2400" dirty="0"/>
              <a:t>To overcome the drawbacks of the existing system, the proposed system has been evolved. </a:t>
            </a:r>
          </a:p>
          <a:p>
            <a:r>
              <a:rPr lang="en-US" sz="2400" dirty="0"/>
              <a:t>Aggregate and Integration the diverse datasets, covering cases, vaccination information.</a:t>
            </a:r>
          </a:p>
          <a:p>
            <a:r>
              <a:rPr lang="en-US" sz="2400" dirty="0"/>
              <a:t>These project more developed an interactive dynamic visualization dashboard.</a:t>
            </a:r>
          </a:p>
          <a:p>
            <a:r>
              <a:rPr lang="en-US" sz="2400" dirty="0"/>
              <a:t>The system provides with the best user interface. The efficient reports can be generated by using this proposed system.</a:t>
            </a:r>
            <a:endParaRPr lang="en-US" sz="2400" b="1" dirty="0"/>
          </a:p>
        </p:txBody>
      </p:sp>
    </p:spTree>
    <p:extLst>
      <p:ext uri="{BB962C8B-B14F-4D97-AF65-F5344CB8AC3E}">
        <p14:creationId xmlns:p14="http://schemas.microsoft.com/office/powerpoint/2010/main" val="1138487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1EB35-1251-1AF7-05D7-34556B2C2106}"/>
              </a:ext>
            </a:extLst>
          </p:cNvPr>
          <p:cNvSpPr>
            <a:spLocks noGrp="1"/>
          </p:cNvSpPr>
          <p:nvPr>
            <p:ph type="title"/>
          </p:nvPr>
        </p:nvSpPr>
        <p:spPr>
          <a:xfrm>
            <a:off x="677334" y="914400"/>
            <a:ext cx="8596668" cy="1016000"/>
          </a:xfrm>
        </p:spPr>
        <p:txBody>
          <a:bodyPr>
            <a:normAutofit/>
          </a:bodyPr>
          <a:lstStyle/>
          <a:p>
            <a:r>
              <a:rPr lang="en-US" sz="2800" dirty="0">
                <a:solidFill>
                  <a:schemeClr val="accent3">
                    <a:lumMod val="50000"/>
                  </a:schemeClr>
                </a:solidFill>
              </a:rPr>
              <a:t>System Requirements</a:t>
            </a:r>
          </a:p>
        </p:txBody>
      </p:sp>
      <p:sp>
        <p:nvSpPr>
          <p:cNvPr id="3" name="Content Placeholder 2">
            <a:extLst>
              <a:ext uri="{FF2B5EF4-FFF2-40B4-BE49-F238E27FC236}">
                <a16:creationId xmlns:a16="http://schemas.microsoft.com/office/drawing/2014/main" id="{3E260944-C6FD-0795-DA1C-AF4EC0E47EFF}"/>
              </a:ext>
            </a:extLst>
          </p:cNvPr>
          <p:cNvSpPr>
            <a:spLocks noGrp="1"/>
          </p:cNvSpPr>
          <p:nvPr>
            <p:ph idx="1"/>
          </p:nvPr>
        </p:nvSpPr>
        <p:spPr>
          <a:xfrm>
            <a:off x="1324447" y="1587087"/>
            <a:ext cx="8596668" cy="4465983"/>
          </a:xfrm>
        </p:spPr>
        <p:txBody>
          <a:bodyPr>
            <a:noAutofit/>
          </a:bodyPr>
          <a:lstStyle/>
          <a:p>
            <a:pPr marL="0" indent="0">
              <a:buNone/>
            </a:pPr>
            <a:r>
              <a:rPr lang="en-US" sz="2000" b="1" dirty="0"/>
              <a:t>                                    </a:t>
            </a:r>
            <a:r>
              <a:rPr lang="en-US" sz="2400" b="1" u="sng" dirty="0"/>
              <a:t>Hardware Requirements</a:t>
            </a:r>
          </a:p>
          <a:p>
            <a:pPr marL="0" indent="0" algn="ctr">
              <a:buNone/>
            </a:pPr>
            <a:r>
              <a:rPr lang="en-US" sz="2000" b="1" dirty="0"/>
              <a:t>   1.Minimum RAM: -4GB</a:t>
            </a:r>
          </a:p>
          <a:p>
            <a:pPr marL="0" indent="0" algn="ctr">
              <a:buNone/>
            </a:pPr>
            <a:r>
              <a:rPr lang="en-US" sz="2000" b="1" dirty="0"/>
              <a:t> 2.Hard Disk: -128 GB </a:t>
            </a:r>
          </a:p>
          <a:p>
            <a:pPr marL="0" indent="0" algn="ctr">
              <a:buNone/>
            </a:pPr>
            <a:r>
              <a:rPr lang="en-US" sz="2000" b="1" dirty="0"/>
              <a:t>                               3.Processor: -Intel Pentium 5 or higher.</a:t>
            </a:r>
          </a:p>
          <a:p>
            <a:pPr marL="0" indent="0">
              <a:buNone/>
            </a:pPr>
            <a:r>
              <a:rPr lang="en-US" sz="2000" b="1" dirty="0"/>
              <a:t>                                   </a:t>
            </a:r>
            <a:r>
              <a:rPr lang="en-US" sz="2400" b="1" u="sng" dirty="0"/>
              <a:t>Software Requirement</a:t>
            </a:r>
          </a:p>
          <a:p>
            <a:pPr marL="0" indent="0">
              <a:buNone/>
            </a:pPr>
            <a:r>
              <a:rPr lang="en-US" sz="2000" b="1" dirty="0"/>
              <a:t>                                        1. OS: windows </a:t>
            </a:r>
          </a:p>
          <a:p>
            <a:pPr marL="0" indent="0" algn="ctr">
              <a:buNone/>
            </a:pPr>
            <a:r>
              <a:rPr lang="en-US" sz="2000" b="1" dirty="0"/>
              <a:t>                              2. Python IDE: Python 2.7.x and above</a:t>
            </a:r>
          </a:p>
          <a:p>
            <a:pPr marL="0" indent="0" algn="ctr">
              <a:buNone/>
            </a:pPr>
            <a:r>
              <a:rPr lang="en-US" sz="2000" b="1" dirty="0"/>
              <a:t> 3.Jupyter Notebook</a:t>
            </a:r>
          </a:p>
          <a:p>
            <a:pPr marL="0" indent="0" algn="ctr">
              <a:buNone/>
            </a:pPr>
            <a:r>
              <a:rPr lang="en-US" sz="2000" b="1" dirty="0"/>
              <a:t>                     4.Visual Studio Code and Tableau</a:t>
            </a:r>
          </a:p>
          <a:p>
            <a:pPr marL="0" indent="0" algn="ctr">
              <a:buNone/>
            </a:pPr>
            <a:r>
              <a:rPr lang="en-US" sz="2000" b="1" dirty="0"/>
              <a:t> 5. Language: Python</a:t>
            </a:r>
          </a:p>
        </p:txBody>
      </p:sp>
    </p:spTree>
    <p:extLst>
      <p:ext uri="{BB962C8B-B14F-4D97-AF65-F5344CB8AC3E}">
        <p14:creationId xmlns:p14="http://schemas.microsoft.com/office/powerpoint/2010/main" val="2077942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F67FE-4179-EDFF-3F45-6EF0E4B10C88}"/>
              </a:ext>
            </a:extLst>
          </p:cNvPr>
          <p:cNvSpPr>
            <a:spLocks noGrp="1"/>
          </p:cNvSpPr>
          <p:nvPr>
            <p:ph type="title"/>
          </p:nvPr>
        </p:nvSpPr>
        <p:spPr/>
        <p:txBody>
          <a:bodyPr>
            <a:normAutofit/>
          </a:bodyPr>
          <a:lstStyle/>
          <a:p>
            <a:r>
              <a:rPr lang="en-US" sz="2800" dirty="0">
                <a:solidFill>
                  <a:schemeClr val="accent3">
                    <a:lumMod val="50000"/>
                  </a:schemeClr>
                </a:solidFill>
              </a:rPr>
              <a:t>Architecture</a:t>
            </a:r>
            <a:br>
              <a:rPr lang="en-US" sz="2000" dirty="0"/>
            </a:br>
            <a:endParaRPr lang="en-US" sz="2000" dirty="0"/>
          </a:p>
        </p:txBody>
      </p:sp>
      <p:pic>
        <p:nvPicPr>
          <p:cNvPr id="10" name="Content Placeholder 9">
            <a:extLst>
              <a:ext uri="{FF2B5EF4-FFF2-40B4-BE49-F238E27FC236}">
                <a16:creationId xmlns:a16="http://schemas.microsoft.com/office/drawing/2014/main" id="{151CE057-9BCA-12E3-DBBC-C3296E36D5E7}"/>
              </a:ext>
            </a:extLst>
          </p:cNvPr>
          <p:cNvPicPr>
            <a:picLocks noGrp="1" noChangeAspect="1"/>
          </p:cNvPicPr>
          <p:nvPr>
            <p:ph idx="1"/>
          </p:nvPr>
        </p:nvPicPr>
        <p:blipFill>
          <a:blip r:embed="rId2"/>
          <a:stretch>
            <a:fillRect/>
          </a:stretch>
        </p:blipFill>
        <p:spPr bwMode="auto">
          <a:xfrm>
            <a:off x="244700" y="1056068"/>
            <a:ext cx="9350062" cy="5692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3339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B8883-3773-94C4-95DF-6608F022BA43}"/>
              </a:ext>
            </a:extLst>
          </p:cNvPr>
          <p:cNvSpPr>
            <a:spLocks noGrp="1"/>
          </p:cNvSpPr>
          <p:nvPr>
            <p:ph type="title"/>
          </p:nvPr>
        </p:nvSpPr>
        <p:spPr>
          <a:xfrm>
            <a:off x="677334" y="816638"/>
            <a:ext cx="8596668" cy="1113762"/>
          </a:xfrm>
        </p:spPr>
        <p:txBody>
          <a:bodyPr>
            <a:normAutofit/>
          </a:bodyPr>
          <a:lstStyle/>
          <a:p>
            <a:r>
              <a:rPr lang="en-IN" sz="2800" dirty="0">
                <a:solidFill>
                  <a:schemeClr val="accent3">
                    <a:lumMod val="50000"/>
                  </a:schemeClr>
                </a:solidFill>
              </a:rPr>
              <a:t>DATA FRAMES</a:t>
            </a:r>
            <a:endParaRPr lang="en-US" sz="2800" dirty="0">
              <a:solidFill>
                <a:schemeClr val="accent3">
                  <a:lumMod val="50000"/>
                </a:schemeClr>
              </a:solidFill>
            </a:endParaRPr>
          </a:p>
        </p:txBody>
      </p:sp>
      <p:sp>
        <p:nvSpPr>
          <p:cNvPr id="3" name="Content Placeholder 2">
            <a:extLst>
              <a:ext uri="{FF2B5EF4-FFF2-40B4-BE49-F238E27FC236}">
                <a16:creationId xmlns:a16="http://schemas.microsoft.com/office/drawing/2014/main" id="{B983FEF6-BF6E-8251-6B98-301BAD5B59D1}"/>
              </a:ext>
            </a:extLst>
          </p:cNvPr>
          <p:cNvSpPr>
            <a:spLocks noGrp="1"/>
          </p:cNvSpPr>
          <p:nvPr>
            <p:ph idx="1"/>
          </p:nvPr>
        </p:nvSpPr>
        <p:spPr>
          <a:xfrm>
            <a:off x="1558344" y="1803043"/>
            <a:ext cx="7715658" cy="4816698"/>
          </a:xfrm>
        </p:spPr>
        <p:txBody>
          <a:bodyPr>
            <a:normAutofit/>
          </a:bodyPr>
          <a:lstStyle/>
          <a:p>
            <a:r>
              <a:rPr lang="en-IN" sz="2400" dirty="0"/>
              <a:t>It is the crucial components in Covid-19 data analysis project.</a:t>
            </a:r>
          </a:p>
          <a:p>
            <a:r>
              <a:rPr lang="en-IN" sz="2400" dirty="0"/>
              <a:t>They help organize and manipulate data efficiency.</a:t>
            </a:r>
          </a:p>
          <a:p>
            <a:r>
              <a:rPr lang="en-IN" sz="2400" dirty="0"/>
              <a:t>Python library packages like NumPy, pandas are used for this purpose.</a:t>
            </a:r>
          </a:p>
          <a:p>
            <a:r>
              <a:rPr lang="en-IN" sz="2400" dirty="0"/>
              <a:t>Data Frames accepts many different kinds of inputs.</a:t>
            </a:r>
          </a:p>
          <a:p>
            <a:pPr marL="0" indent="0" algn="ctr">
              <a:buNone/>
            </a:pPr>
            <a:r>
              <a:rPr lang="en-US" sz="2400" dirty="0">
                <a:solidFill>
                  <a:schemeClr val="tx1"/>
                </a:solidFill>
                <a:latin typeface="Trebuchet MS (Body)"/>
              </a:rPr>
              <a:t>vaccine_df.info()</a:t>
            </a:r>
          </a:p>
          <a:p>
            <a:pPr marL="0" indent="0" algn="ctr">
              <a:buNone/>
            </a:pPr>
            <a:endParaRPr lang="en-US" sz="2400" dirty="0">
              <a:solidFill>
                <a:schemeClr val="tx1"/>
              </a:solidFill>
              <a:latin typeface="Trebuchet MS (Body)"/>
            </a:endParaRPr>
          </a:p>
          <a:p>
            <a:endParaRPr lang="en-US" sz="2000" dirty="0"/>
          </a:p>
        </p:txBody>
      </p:sp>
      <p:pic>
        <p:nvPicPr>
          <p:cNvPr id="7" name="Picture 6">
            <a:extLst>
              <a:ext uri="{FF2B5EF4-FFF2-40B4-BE49-F238E27FC236}">
                <a16:creationId xmlns:a16="http://schemas.microsoft.com/office/drawing/2014/main" id="{4C4CF6AC-3B19-3347-7270-74263D7DF1B6}"/>
              </a:ext>
            </a:extLst>
          </p:cNvPr>
          <p:cNvPicPr>
            <a:picLocks noChangeAspect="1"/>
          </p:cNvPicPr>
          <p:nvPr/>
        </p:nvPicPr>
        <p:blipFill>
          <a:blip r:embed="rId2"/>
          <a:stretch>
            <a:fillRect/>
          </a:stretch>
        </p:blipFill>
        <p:spPr>
          <a:xfrm>
            <a:off x="2137893" y="4481847"/>
            <a:ext cx="7315200" cy="2137893"/>
          </a:xfrm>
          <a:prstGeom prst="rect">
            <a:avLst/>
          </a:prstGeom>
        </p:spPr>
      </p:pic>
    </p:spTree>
    <p:extLst>
      <p:ext uri="{BB962C8B-B14F-4D97-AF65-F5344CB8AC3E}">
        <p14:creationId xmlns:p14="http://schemas.microsoft.com/office/powerpoint/2010/main" val="2087006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12695-DA1E-2FCB-088B-A6BB5A58B44F}"/>
              </a:ext>
            </a:extLst>
          </p:cNvPr>
          <p:cNvSpPr>
            <a:spLocks noGrp="1"/>
          </p:cNvSpPr>
          <p:nvPr>
            <p:ph type="title"/>
          </p:nvPr>
        </p:nvSpPr>
        <p:spPr>
          <a:xfrm>
            <a:off x="930552" y="1157458"/>
            <a:ext cx="8596668" cy="1320800"/>
          </a:xfrm>
        </p:spPr>
        <p:txBody>
          <a:bodyPr>
            <a:normAutofit/>
          </a:bodyPr>
          <a:lstStyle/>
          <a:p>
            <a:r>
              <a:rPr lang="en-US" sz="3200" dirty="0">
                <a:solidFill>
                  <a:schemeClr val="accent3">
                    <a:lumMod val="50000"/>
                  </a:schemeClr>
                </a:solidFill>
              </a:rPr>
              <a:t>MODULES</a:t>
            </a:r>
          </a:p>
        </p:txBody>
      </p:sp>
      <p:sp>
        <p:nvSpPr>
          <p:cNvPr id="3" name="Content Placeholder 2">
            <a:extLst>
              <a:ext uri="{FF2B5EF4-FFF2-40B4-BE49-F238E27FC236}">
                <a16:creationId xmlns:a16="http://schemas.microsoft.com/office/drawing/2014/main" id="{6B0795AE-1F69-EF3E-16B3-98BF0B9D654F}"/>
              </a:ext>
            </a:extLst>
          </p:cNvPr>
          <p:cNvSpPr>
            <a:spLocks noGrp="1"/>
          </p:cNvSpPr>
          <p:nvPr>
            <p:ph idx="1"/>
          </p:nvPr>
        </p:nvSpPr>
        <p:spPr>
          <a:xfrm>
            <a:off x="1521395" y="2189407"/>
            <a:ext cx="8596668" cy="3511135"/>
          </a:xfrm>
        </p:spPr>
        <p:txBody>
          <a:bodyPr>
            <a:normAutofit/>
          </a:bodyPr>
          <a:lstStyle/>
          <a:p>
            <a:pPr marL="0" indent="0">
              <a:buNone/>
            </a:pPr>
            <a:r>
              <a:rPr lang="en-US" sz="2800" b="1" dirty="0"/>
              <a:t>Module 1: Cleaning the dataset</a:t>
            </a:r>
          </a:p>
          <a:p>
            <a:pPr marL="0" indent="0">
              <a:buNone/>
            </a:pPr>
            <a:r>
              <a:rPr lang="en-US" sz="2800" b="1" dirty="0"/>
              <a:t>Module 2: Data Visualization</a:t>
            </a:r>
          </a:p>
          <a:p>
            <a:pPr marL="0" indent="0">
              <a:buNone/>
            </a:pPr>
            <a:r>
              <a:rPr lang="en-US" sz="2800" b="1" dirty="0"/>
              <a:t>Module 3: Computing Accuracy</a:t>
            </a:r>
          </a:p>
          <a:p>
            <a:pPr marL="0" indent="0">
              <a:buNone/>
            </a:pPr>
            <a:r>
              <a:rPr lang="en-US" sz="2800" b="1" dirty="0"/>
              <a:t>Module 4: Predicting Covid +ve or -ve</a:t>
            </a:r>
          </a:p>
          <a:p>
            <a:pPr marL="0" indent="0">
              <a:buNone/>
            </a:pPr>
            <a:endParaRPr lang="en-US" sz="2400" b="1" dirty="0"/>
          </a:p>
          <a:p>
            <a:pPr marL="0" indent="0">
              <a:buNone/>
            </a:pPr>
            <a:endParaRPr lang="en-US" sz="2400" b="1"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210120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473C6-0E35-9E08-F319-3183CF0EB6FE}"/>
              </a:ext>
            </a:extLst>
          </p:cNvPr>
          <p:cNvSpPr>
            <a:spLocks noGrp="1"/>
          </p:cNvSpPr>
          <p:nvPr>
            <p:ph type="title"/>
          </p:nvPr>
        </p:nvSpPr>
        <p:spPr/>
        <p:txBody>
          <a:bodyPr>
            <a:normAutofit/>
          </a:bodyPr>
          <a:lstStyle/>
          <a:p>
            <a:r>
              <a:rPr lang="en-IN" sz="2800" dirty="0">
                <a:solidFill>
                  <a:schemeClr val="accent3">
                    <a:lumMod val="50000"/>
                  </a:schemeClr>
                </a:solidFill>
              </a:rPr>
              <a:t>PYTHON PACKAGES</a:t>
            </a:r>
            <a:endParaRPr lang="en-US" sz="2800" dirty="0">
              <a:solidFill>
                <a:schemeClr val="accent3">
                  <a:lumMod val="50000"/>
                </a:schemeClr>
              </a:solidFill>
            </a:endParaRPr>
          </a:p>
        </p:txBody>
      </p:sp>
      <p:sp>
        <p:nvSpPr>
          <p:cNvPr id="3" name="Content Placeholder 2">
            <a:extLst>
              <a:ext uri="{FF2B5EF4-FFF2-40B4-BE49-F238E27FC236}">
                <a16:creationId xmlns:a16="http://schemas.microsoft.com/office/drawing/2014/main" id="{A852E757-928B-D6EE-89B4-305515E11761}"/>
              </a:ext>
            </a:extLst>
          </p:cNvPr>
          <p:cNvSpPr>
            <a:spLocks noGrp="1"/>
          </p:cNvSpPr>
          <p:nvPr>
            <p:ph idx="1"/>
          </p:nvPr>
        </p:nvSpPr>
        <p:spPr>
          <a:xfrm>
            <a:off x="677334" y="1661375"/>
            <a:ext cx="8596668" cy="4379987"/>
          </a:xfrm>
        </p:spPr>
        <p:txBody>
          <a:bodyPr>
            <a:normAutofit/>
          </a:bodyPr>
          <a:lstStyle/>
          <a:p>
            <a:r>
              <a:rPr lang="en-GB" sz="2400" i="0" dirty="0">
                <a:solidFill>
                  <a:schemeClr val="tx1"/>
                </a:solidFill>
                <a:effectLst/>
                <a:latin typeface="+mj-lt"/>
              </a:rPr>
              <a:t>There are several Python packages commonly used for COVID-19 data analysis.</a:t>
            </a:r>
          </a:p>
          <a:p>
            <a:r>
              <a:rPr lang="en-GB" sz="2400" dirty="0">
                <a:solidFill>
                  <a:schemeClr val="tx1"/>
                </a:solidFill>
                <a:latin typeface="+mj-lt"/>
              </a:rPr>
              <a:t>Like NumPy, pandas, seaborn, matplotlib, plotly etc.,</a:t>
            </a:r>
          </a:p>
          <a:p>
            <a:endParaRPr lang="en-US" sz="2000" dirty="0">
              <a:solidFill>
                <a:schemeClr val="tx1"/>
              </a:solidFill>
              <a:latin typeface="+mj-lt"/>
            </a:endParaRPr>
          </a:p>
        </p:txBody>
      </p:sp>
      <p:pic>
        <p:nvPicPr>
          <p:cNvPr id="5" name="Picture 4">
            <a:extLst>
              <a:ext uri="{FF2B5EF4-FFF2-40B4-BE49-F238E27FC236}">
                <a16:creationId xmlns:a16="http://schemas.microsoft.com/office/drawing/2014/main" id="{2A96FD40-EF88-6A24-828F-F19792777A8B}"/>
              </a:ext>
            </a:extLst>
          </p:cNvPr>
          <p:cNvPicPr>
            <a:picLocks noChangeAspect="1"/>
          </p:cNvPicPr>
          <p:nvPr/>
        </p:nvPicPr>
        <p:blipFill>
          <a:blip r:embed="rId2"/>
          <a:stretch>
            <a:fillRect/>
          </a:stretch>
        </p:blipFill>
        <p:spPr>
          <a:xfrm>
            <a:off x="2119508" y="3245477"/>
            <a:ext cx="6356003" cy="3206838"/>
          </a:xfrm>
          <a:prstGeom prst="rect">
            <a:avLst/>
          </a:prstGeom>
        </p:spPr>
      </p:pic>
    </p:spTree>
    <p:extLst>
      <p:ext uri="{BB962C8B-B14F-4D97-AF65-F5344CB8AC3E}">
        <p14:creationId xmlns:p14="http://schemas.microsoft.com/office/powerpoint/2010/main" val="4032004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FD787-B54F-B75B-ACE7-D20DA89E6D6A}"/>
              </a:ext>
            </a:extLst>
          </p:cNvPr>
          <p:cNvSpPr>
            <a:spLocks noGrp="1"/>
          </p:cNvSpPr>
          <p:nvPr>
            <p:ph type="title"/>
          </p:nvPr>
        </p:nvSpPr>
        <p:spPr/>
        <p:txBody>
          <a:bodyPr>
            <a:normAutofit/>
          </a:bodyPr>
          <a:lstStyle/>
          <a:p>
            <a:r>
              <a:rPr lang="en-IN" sz="2800" dirty="0">
                <a:solidFill>
                  <a:schemeClr val="accent3">
                    <a:lumMod val="50000"/>
                  </a:schemeClr>
                </a:solidFill>
              </a:rPr>
              <a:t>SPLITTING,IMPUTATION AND INTERPOLATION</a:t>
            </a:r>
            <a:endParaRPr lang="en-US" sz="2800" dirty="0">
              <a:solidFill>
                <a:schemeClr val="accent3">
                  <a:lumMod val="50000"/>
                </a:schemeClr>
              </a:solidFill>
            </a:endParaRPr>
          </a:p>
        </p:txBody>
      </p:sp>
      <p:sp>
        <p:nvSpPr>
          <p:cNvPr id="3" name="Content Placeholder 2">
            <a:extLst>
              <a:ext uri="{FF2B5EF4-FFF2-40B4-BE49-F238E27FC236}">
                <a16:creationId xmlns:a16="http://schemas.microsoft.com/office/drawing/2014/main" id="{966111BF-E055-2190-1416-B175B8CACCC2}"/>
              </a:ext>
            </a:extLst>
          </p:cNvPr>
          <p:cNvSpPr>
            <a:spLocks noGrp="1"/>
          </p:cNvSpPr>
          <p:nvPr>
            <p:ph idx="1"/>
          </p:nvPr>
        </p:nvSpPr>
        <p:spPr>
          <a:xfrm>
            <a:off x="677334" y="1468193"/>
            <a:ext cx="8596668" cy="4945486"/>
          </a:xfrm>
        </p:spPr>
        <p:txBody>
          <a:bodyPr>
            <a:normAutofit/>
          </a:bodyPr>
          <a:lstStyle/>
          <a:p>
            <a:r>
              <a:rPr lang="en-IN" sz="2400" dirty="0"/>
              <a:t>Splitting – pandas sample() is used to generate sample random row or column from the data frame.</a:t>
            </a:r>
          </a:p>
          <a:p>
            <a:r>
              <a:rPr lang="en-IN" sz="2400" dirty="0"/>
              <a:t>Imputation – The process of replacing the missing data with substituted values.</a:t>
            </a:r>
          </a:p>
          <a:p>
            <a:r>
              <a:rPr lang="en-IN" sz="2400" dirty="0"/>
              <a:t>Interpolation – A method of constructing new data points within the range of a discrete set of know points.</a:t>
            </a:r>
          </a:p>
          <a:p>
            <a:endParaRPr lang="en-US" sz="2000" dirty="0"/>
          </a:p>
        </p:txBody>
      </p:sp>
      <p:pic>
        <p:nvPicPr>
          <p:cNvPr id="5" name="Picture 4">
            <a:extLst>
              <a:ext uri="{FF2B5EF4-FFF2-40B4-BE49-F238E27FC236}">
                <a16:creationId xmlns:a16="http://schemas.microsoft.com/office/drawing/2014/main" id="{82402834-BE58-6C47-66D9-E93A20C1BC20}"/>
              </a:ext>
            </a:extLst>
          </p:cNvPr>
          <p:cNvPicPr>
            <a:picLocks noChangeAspect="1"/>
          </p:cNvPicPr>
          <p:nvPr/>
        </p:nvPicPr>
        <p:blipFill>
          <a:blip r:embed="rId2"/>
          <a:stretch>
            <a:fillRect/>
          </a:stretch>
        </p:blipFill>
        <p:spPr>
          <a:xfrm>
            <a:off x="527696" y="4069726"/>
            <a:ext cx="4984462" cy="2434105"/>
          </a:xfrm>
          <a:prstGeom prst="rect">
            <a:avLst/>
          </a:prstGeom>
        </p:spPr>
      </p:pic>
      <p:pic>
        <p:nvPicPr>
          <p:cNvPr id="7" name="Picture 6">
            <a:extLst>
              <a:ext uri="{FF2B5EF4-FFF2-40B4-BE49-F238E27FC236}">
                <a16:creationId xmlns:a16="http://schemas.microsoft.com/office/drawing/2014/main" id="{F0338200-FC72-8061-8B0D-19F5F11D2FFD}"/>
              </a:ext>
            </a:extLst>
          </p:cNvPr>
          <p:cNvPicPr>
            <a:picLocks noChangeAspect="1"/>
          </p:cNvPicPr>
          <p:nvPr/>
        </p:nvPicPr>
        <p:blipFill>
          <a:blip r:embed="rId3"/>
          <a:stretch>
            <a:fillRect/>
          </a:stretch>
        </p:blipFill>
        <p:spPr>
          <a:xfrm>
            <a:off x="6331498" y="4069726"/>
            <a:ext cx="5332806" cy="2562895"/>
          </a:xfrm>
          <a:prstGeom prst="rect">
            <a:avLst/>
          </a:prstGeom>
        </p:spPr>
      </p:pic>
    </p:spTree>
    <p:extLst>
      <p:ext uri="{BB962C8B-B14F-4D97-AF65-F5344CB8AC3E}">
        <p14:creationId xmlns:p14="http://schemas.microsoft.com/office/powerpoint/2010/main" val="3303775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chemeClr val="accent3">
                    <a:lumMod val="50000"/>
                  </a:schemeClr>
                </a:solidFill>
              </a:rPr>
              <a:t>DATA CLEANING</a:t>
            </a:r>
          </a:p>
        </p:txBody>
      </p:sp>
      <p:sp>
        <p:nvSpPr>
          <p:cNvPr id="3" name="Content Placeholder 2"/>
          <p:cNvSpPr>
            <a:spLocks noGrp="1"/>
          </p:cNvSpPr>
          <p:nvPr>
            <p:ph idx="1"/>
          </p:nvPr>
        </p:nvSpPr>
        <p:spPr>
          <a:xfrm>
            <a:off x="677334" y="1930400"/>
            <a:ext cx="8596668" cy="4110963"/>
          </a:xfrm>
        </p:spPr>
        <p:txBody>
          <a:bodyPr/>
          <a:lstStyle/>
          <a:p>
            <a:r>
              <a:rPr lang="en-US" sz="2400" dirty="0">
                <a:sym typeface="+mn-ea"/>
              </a:rPr>
              <a:t>Data cleaning  is the process of fixing or removing incorrect, corrupted, incorrectly formatted, duplicate, or incomplete data within a dataset.</a:t>
            </a:r>
          </a:p>
          <a:p>
            <a:r>
              <a:rPr lang="en-US" sz="2400" dirty="0">
                <a:sym typeface="+mn-ea"/>
              </a:rPr>
              <a:t>When combining multiple data sources, there are many opportunities for data to be duplicated or mislabeled.</a:t>
            </a:r>
          </a:p>
          <a:p>
            <a:r>
              <a:rPr lang="en-US" sz="2400" dirty="0">
                <a:sym typeface="+mn-ea"/>
              </a:rPr>
              <a:t>Data cleaning or data scrubbing, is the process of fixing incorrect, incomplete, duplicate or otherwise erroneous data in a data set.</a:t>
            </a:r>
            <a:endParaRPr lang="en-US" sz="2400" dirty="0"/>
          </a:p>
          <a:p>
            <a:endParaRPr lang="en-US" sz="2000" dirty="0">
              <a:sym typeface="+mn-ea"/>
            </a:endParaRPr>
          </a:p>
          <a:p>
            <a:endParaRPr lang="en-US" dirty="0"/>
          </a:p>
        </p:txBody>
      </p:sp>
    </p:spTree>
    <p:extLst>
      <p:ext uri="{BB962C8B-B14F-4D97-AF65-F5344CB8AC3E}">
        <p14:creationId xmlns:p14="http://schemas.microsoft.com/office/powerpoint/2010/main" val="4219531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bwMode="auto">
          <a:xfrm>
            <a:off x="677334" y="1008393"/>
            <a:ext cx="49924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accent3">
                    <a:lumMod val="50000"/>
                  </a:schemeClr>
                </a:solidFill>
                <a:effectLst/>
              </a:rPr>
              <a:t>TOP</a:t>
            </a:r>
            <a:r>
              <a:rPr kumimoji="0" lang="en-US" altLang="en-US" sz="2800" b="0" i="0" u="none" strike="noStrike" cap="none" normalizeH="0" dirty="0">
                <a:ln>
                  <a:noFill/>
                </a:ln>
                <a:solidFill>
                  <a:schemeClr val="accent3">
                    <a:lumMod val="50000"/>
                  </a:schemeClr>
                </a:solidFill>
                <a:effectLst/>
              </a:rPr>
              <a:t> 10 ACTIVE CASES IN INDIA</a:t>
            </a:r>
            <a:endParaRPr kumimoji="0" lang="en-US" altLang="en-US" sz="6000" b="0" i="0" u="none" strike="noStrike" cap="none" normalizeH="0" baseline="0" dirty="0">
              <a:ln>
                <a:noFill/>
              </a:ln>
              <a:solidFill>
                <a:schemeClr val="accent3">
                  <a:lumMod val="50000"/>
                </a:schemeClr>
              </a:solidFill>
              <a:effectLst/>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677334" y="1743456"/>
            <a:ext cx="9278035" cy="4706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211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solidFill>
                  <a:schemeClr val="accent3">
                    <a:lumMod val="50000"/>
                  </a:schemeClr>
                </a:solidFill>
              </a:rPr>
              <a:t>TOP 10 STATES WITH MOST DEATHS</a:t>
            </a:r>
          </a:p>
        </p:txBody>
      </p:sp>
      <p:pic>
        <p:nvPicPr>
          <p:cNvPr id="4" name="Content Placeholder 3"/>
          <p:cNvPicPr>
            <a:picLocks noGrp="1" noChangeAspect="1"/>
          </p:cNvPicPr>
          <p:nvPr>
            <p:ph idx="1"/>
          </p:nvPr>
        </p:nvPicPr>
        <p:blipFill>
          <a:blip r:embed="rId2"/>
          <a:stretch>
            <a:fillRect/>
          </a:stretch>
        </p:blipFill>
        <p:spPr>
          <a:xfrm>
            <a:off x="489398" y="1402081"/>
            <a:ext cx="9414456" cy="4604926"/>
          </a:xfrm>
          <a:prstGeom prst="rect">
            <a:avLst/>
          </a:prstGeom>
        </p:spPr>
      </p:pic>
    </p:spTree>
    <p:extLst>
      <p:ext uri="{BB962C8B-B14F-4D97-AF65-F5344CB8AC3E}">
        <p14:creationId xmlns:p14="http://schemas.microsoft.com/office/powerpoint/2010/main" val="3776262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718" y="814832"/>
            <a:ext cx="8596668" cy="1320800"/>
          </a:xfrm>
        </p:spPr>
        <p:txBody>
          <a:bodyPr>
            <a:normAutofit/>
          </a:bodyPr>
          <a:lstStyle/>
          <a:p>
            <a:r>
              <a:rPr lang="en-US" sz="2800" dirty="0">
                <a:solidFill>
                  <a:schemeClr val="accent3">
                    <a:lumMod val="50000"/>
                  </a:schemeClr>
                </a:solidFill>
              </a:rPr>
              <a:t>TOP 5 AFFECTED STATES IN INDIA</a:t>
            </a:r>
          </a:p>
        </p:txBody>
      </p:sp>
      <p:pic>
        <p:nvPicPr>
          <p:cNvPr id="4" name="Content Placeholder 3"/>
          <p:cNvPicPr>
            <a:picLocks noGrp="1" noChangeAspect="1"/>
          </p:cNvPicPr>
          <p:nvPr>
            <p:ph idx="1"/>
          </p:nvPr>
        </p:nvPicPr>
        <p:blipFill>
          <a:blip r:embed="rId2"/>
          <a:stretch>
            <a:fillRect/>
          </a:stretch>
        </p:blipFill>
        <p:spPr>
          <a:xfrm>
            <a:off x="512065" y="1475232"/>
            <a:ext cx="9584972" cy="5108448"/>
          </a:xfrm>
          <a:prstGeom prst="rect">
            <a:avLst/>
          </a:prstGeom>
        </p:spPr>
      </p:pic>
    </p:spTree>
    <p:extLst>
      <p:ext uri="{BB962C8B-B14F-4D97-AF65-F5344CB8AC3E}">
        <p14:creationId xmlns:p14="http://schemas.microsoft.com/office/powerpoint/2010/main" val="1826218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chemeClr val="accent3">
                    <a:lumMod val="50000"/>
                  </a:schemeClr>
                </a:solidFill>
              </a:rPr>
              <a:t>TOP 5 VACCINATED STATES </a:t>
            </a:r>
          </a:p>
        </p:txBody>
      </p:sp>
      <p:pic>
        <p:nvPicPr>
          <p:cNvPr id="4" name="Content Placeholder 3"/>
          <p:cNvPicPr>
            <a:picLocks noGrp="1" noChangeAspect="1"/>
          </p:cNvPicPr>
          <p:nvPr>
            <p:ph idx="1"/>
          </p:nvPr>
        </p:nvPicPr>
        <p:blipFill>
          <a:blip r:embed="rId2"/>
          <a:stretch>
            <a:fillRect/>
          </a:stretch>
        </p:blipFill>
        <p:spPr>
          <a:xfrm>
            <a:off x="829057" y="1280160"/>
            <a:ext cx="9280858" cy="5120640"/>
          </a:xfrm>
          <a:prstGeom prst="rect">
            <a:avLst/>
          </a:prstGeom>
        </p:spPr>
      </p:pic>
    </p:spTree>
    <p:extLst>
      <p:ext uri="{BB962C8B-B14F-4D97-AF65-F5344CB8AC3E}">
        <p14:creationId xmlns:p14="http://schemas.microsoft.com/office/powerpoint/2010/main" val="3005712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890016"/>
            <a:ext cx="8596668" cy="1040384"/>
          </a:xfrm>
        </p:spPr>
        <p:txBody>
          <a:bodyPr>
            <a:normAutofit/>
          </a:bodyPr>
          <a:lstStyle/>
          <a:p>
            <a:r>
              <a:rPr lang="en-US" sz="2800" dirty="0">
                <a:solidFill>
                  <a:schemeClr val="accent3">
                    <a:lumMod val="50000"/>
                  </a:schemeClr>
                </a:solidFill>
              </a:rPr>
              <a:t>VISUALIZATION IN COVID 19 DATA ANALYSIS(TABLEU)</a:t>
            </a:r>
            <a:endParaRPr lang="en-US" sz="2400" dirty="0">
              <a:solidFill>
                <a:schemeClr val="accent3">
                  <a:lumMod val="50000"/>
                </a:schemeClr>
              </a:solidFill>
            </a:endParaRPr>
          </a:p>
        </p:txBody>
      </p:sp>
      <p:sp>
        <p:nvSpPr>
          <p:cNvPr id="3" name="Content Placeholder 2"/>
          <p:cNvSpPr>
            <a:spLocks noGrp="1"/>
          </p:cNvSpPr>
          <p:nvPr>
            <p:ph idx="1"/>
          </p:nvPr>
        </p:nvSpPr>
        <p:spPr>
          <a:xfrm>
            <a:off x="677334" y="1731265"/>
            <a:ext cx="8596668" cy="4310098"/>
          </a:xfrm>
        </p:spPr>
        <p:txBody>
          <a:bodyPr>
            <a:normAutofit/>
          </a:bodyPr>
          <a:lstStyle/>
          <a:p>
            <a:r>
              <a:rPr lang="en-GB" sz="2400" b="0" i="0" dirty="0">
                <a:solidFill>
                  <a:schemeClr val="tx1"/>
                </a:solidFill>
                <a:effectLst/>
                <a:latin typeface="+mj-lt"/>
              </a:rPr>
              <a:t>Tableau is a powerful tool for creating interactive visualizations.</a:t>
            </a:r>
          </a:p>
          <a:p>
            <a:r>
              <a:rPr lang="en-GB" sz="2400" dirty="0">
                <a:solidFill>
                  <a:schemeClr val="tx1"/>
                </a:solidFill>
                <a:latin typeface="+mj-lt"/>
              </a:rPr>
              <a:t>To </a:t>
            </a:r>
            <a:r>
              <a:rPr lang="en-GB" sz="2400" b="0" i="0" dirty="0">
                <a:solidFill>
                  <a:schemeClr val="tx1"/>
                </a:solidFill>
                <a:effectLst/>
                <a:latin typeface="+mj-lt"/>
              </a:rPr>
              <a:t>create a visualization for a COVID-19 data analysis project using Tableau software like,</a:t>
            </a:r>
          </a:p>
          <a:p>
            <a:pPr marL="0" indent="0">
              <a:buNone/>
            </a:pPr>
            <a:r>
              <a:rPr lang="en-GB" sz="2400" dirty="0">
                <a:solidFill>
                  <a:schemeClr val="tx1"/>
                </a:solidFill>
                <a:latin typeface="+mj-lt"/>
              </a:rPr>
              <a:t>     1. To create dashboard</a:t>
            </a:r>
          </a:p>
          <a:p>
            <a:pPr marL="0" indent="0">
              <a:buNone/>
            </a:pPr>
            <a:r>
              <a:rPr lang="en-GB" sz="2400" dirty="0">
                <a:solidFill>
                  <a:schemeClr val="tx1"/>
                </a:solidFill>
                <a:latin typeface="+mj-lt"/>
              </a:rPr>
              <a:t>     2. Connect dataset to visualization</a:t>
            </a:r>
          </a:p>
          <a:p>
            <a:pPr marL="0" indent="0">
              <a:buNone/>
            </a:pPr>
            <a:r>
              <a:rPr lang="en-GB" sz="2400" dirty="0">
                <a:solidFill>
                  <a:schemeClr val="tx1"/>
                </a:solidFill>
                <a:latin typeface="+mj-lt"/>
              </a:rPr>
              <a:t>     3. To import the dataset</a:t>
            </a:r>
          </a:p>
          <a:p>
            <a:pPr marL="0" indent="0">
              <a:buNone/>
            </a:pPr>
            <a:r>
              <a:rPr lang="en-GB" sz="2400" dirty="0">
                <a:solidFill>
                  <a:schemeClr val="tx1"/>
                </a:solidFill>
                <a:latin typeface="+mj-lt"/>
              </a:rPr>
              <a:t>     4. Customize the visualization (final look)</a:t>
            </a:r>
            <a:endParaRPr lang="en-US" sz="2400" dirty="0">
              <a:solidFill>
                <a:schemeClr val="tx1"/>
              </a:solidFill>
              <a:latin typeface="+mj-lt"/>
            </a:endParaRPr>
          </a:p>
        </p:txBody>
      </p:sp>
    </p:spTree>
    <p:extLst>
      <p:ext uri="{BB962C8B-B14F-4D97-AF65-F5344CB8AC3E}">
        <p14:creationId xmlns:p14="http://schemas.microsoft.com/office/powerpoint/2010/main" val="4265573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DA622-B061-3264-6101-DEC8E4876F79}"/>
              </a:ext>
            </a:extLst>
          </p:cNvPr>
          <p:cNvSpPr>
            <a:spLocks noGrp="1"/>
          </p:cNvSpPr>
          <p:nvPr>
            <p:ph type="title"/>
          </p:nvPr>
        </p:nvSpPr>
        <p:spPr>
          <a:xfrm>
            <a:off x="677334" y="609600"/>
            <a:ext cx="8596668" cy="678287"/>
          </a:xfrm>
        </p:spPr>
        <p:txBody>
          <a:bodyPr>
            <a:normAutofit/>
          </a:bodyPr>
          <a:lstStyle/>
          <a:p>
            <a:r>
              <a:rPr lang="en-IN" sz="2800" dirty="0">
                <a:solidFill>
                  <a:schemeClr val="accent3">
                    <a:lumMod val="50000"/>
                  </a:schemeClr>
                </a:solidFill>
              </a:rPr>
              <a:t>Final Output</a:t>
            </a:r>
            <a:endParaRPr lang="en-US" sz="2800" dirty="0">
              <a:solidFill>
                <a:schemeClr val="accent3">
                  <a:lumMod val="50000"/>
                </a:schemeClr>
              </a:solidFill>
            </a:endParaRPr>
          </a:p>
        </p:txBody>
      </p:sp>
      <p:pic>
        <p:nvPicPr>
          <p:cNvPr id="6" name="Content Placeholder 5">
            <a:extLst>
              <a:ext uri="{FF2B5EF4-FFF2-40B4-BE49-F238E27FC236}">
                <a16:creationId xmlns:a16="http://schemas.microsoft.com/office/drawing/2014/main" id="{F4F125BA-F077-753E-FAA3-C625513A67D0}"/>
              </a:ext>
            </a:extLst>
          </p:cNvPr>
          <p:cNvPicPr>
            <a:picLocks noGrp="1" noChangeAspect="1"/>
          </p:cNvPicPr>
          <p:nvPr>
            <p:ph idx="1"/>
          </p:nvPr>
        </p:nvPicPr>
        <p:blipFill>
          <a:blip r:embed="rId2"/>
          <a:stretch>
            <a:fillRect/>
          </a:stretch>
        </p:blipFill>
        <p:spPr bwMode="auto">
          <a:xfrm>
            <a:off x="837127" y="1287462"/>
            <a:ext cx="9182636" cy="5113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7205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67894-22F0-1970-D6A7-CBFC09104D08}"/>
              </a:ext>
            </a:extLst>
          </p:cNvPr>
          <p:cNvSpPr>
            <a:spLocks noGrp="1"/>
          </p:cNvSpPr>
          <p:nvPr>
            <p:ph type="title"/>
          </p:nvPr>
        </p:nvSpPr>
        <p:spPr>
          <a:xfrm>
            <a:off x="1000891" y="919090"/>
            <a:ext cx="8596668" cy="372577"/>
          </a:xfrm>
        </p:spPr>
        <p:txBody>
          <a:bodyPr>
            <a:noAutofit/>
          </a:bodyPr>
          <a:lstStyle/>
          <a:p>
            <a:r>
              <a:rPr lang="en-US" sz="2800" dirty="0">
                <a:solidFill>
                  <a:schemeClr val="accent3">
                    <a:lumMod val="50000"/>
                  </a:schemeClr>
                </a:solidFill>
              </a:rPr>
              <a:t>Features &amp; Feature Enhancement</a:t>
            </a:r>
          </a:p>
        </p:txBody>
      </p:sp>
      <p:sp>
        <p:nvSpPr>
          <p:cNvPr id="3" name="Content Placeholder 2">
            <a:extLst>
              <a:ext uri="{FF2B5EF4-FFF2-40B4-BE49-F238E27FC236}">
                <a16:creationId xmlns:a16="http://schemas.microsoft.com/office/drawing/2014/main" id="{D03FB850-D4F8-6088-5212-BBE42C1C16F4}"/>
              </a:ext>
            </a:extLst>
          </p:cNvPr>
          <p:cNvSpPr>
            <a:spLocks noGrp="1"/>
          </p:cNvSpPr>
          <p:nvPr>
            <p:ph idx="1"/>
          </p:nvPr>
        </p:nvSpPr>
        <p:spPr>
          <a:xfrm>
            <a:off x="1338516" y="1685560"/>
            <a:ext cx="8596668" cy="4856908"/>
          </a:xfrm>
        </p:spPr>
        <p:txBody>
          <a:bodyPr>
            <a:normAutofit lnSpcReduction="10000"/>
          </a:bodyPr>
          <a:lstStyle/>
          <a:p>
            <a:pPr marL="0" indent="0">
              <a:buNone/>
            </a:pPr>
            <a:r>
              <a:rPr lang="en-IN" sz="2000" b="1" dirty="0">
                <a:solidFill>
                  <a:schemeClr val="accent4">
                    <a:lumMod val="50000"/>
                  </a:schemeClr>
                </a:solidFill>
              </a:rPr>
              <a:t>          </a:t>
            </a:r>
            <a:r>
              <a:rPr lang="en-IN" sz="2600" b="1" dirty="0">
                <a:solidFill>
                  <a:schemeClr val="accent3"/>
                </a:solidFill>
              </a:rPr>
              <a:t>1. Features</a:t>
            </a:r>
          </a:p>
          <a:p>
            <a:pPr>
              <a:buFont typeface="Arial" panose="020B0604020202020204" pitchFamily="34" charset="0"/>
              <a:buChar char="•"/>
            </a:pPr>
            <a:r>
              <a:rPr lang="en-IN" sz="2400" dirty="0"/>
              <a:t>Global data harmonization</a:t>
            </a:r>
          </a:p>
          <a:p>
            <a:pPr>
              <a:buFont typeface="Arial" panose="020B0604020202020204" pitchFamily="34" charset="0"/>
              <a:buChar char="•"/>
            </a:pPr>
            <a:r>
              <a:rPr lang="en-IN" sz="2400" dirty="0"/>
              <a:t>Improved public health Interventions.</a:t>
            </a:r>
          </a:p>
          <a:p>
            <a:pPr>
              <a:buFont typeface="Arial" panose="020B0604020202020204" pitchFamily="34" charset="0"/>
              <a:buChar char="•"/>
            </a:pPr>
            <a:r>
              <a:rPr lang="en-IN" sz="2400" dirty="0"/>
              <a:t>Real-time data integration</a:t>
            </a:r>
          </a:p>
          <a:p>
            <a:pPr>
              <a:buFont typeface="Arial" panose="020B0604020202020204" pitchFamily="34" charset="0"/>
              <a:buChar char="•"/>
            </a:pPr>
            <a:r>
              <a:rPr lang="en-IN" sz="2400" dirty="0"/>
              <a:t>To analysis complex information</a:t>
            </a:r>
          </a:p>
          <a:p>
            <a:pPr marL="0" indent="0">
              <a:buNone/>
            </a:pPr>
            <a:r>
              <a:rPr lang="en-IN" sz="2600" dirty="0">
                <a:solidFill>
                  <a:schemeClr val="accent3"/>
                </a:solidFill>
              </a:rPr>
              <a:t>        2. Feature Enhancement</a:t>
            </a:r>
          </a:p>
          <a:p>
            <a:pPr marL="0" indent="0">
              <a:buNone/>
            </a:pPr>
            <a:r>
              <a:rPr lang="en-IN" sz="2000" dirty="0"/>
              <a:t>                </a:t>
            </a:r>
            <a:r>
              <a:rPr lang="en-IN" sz="2200" dirty="0"/>
              <a:t>The following are the future Enhancement for the    project.</a:t>
            </a:r>
          </a:p>
          <a:p>
            <a:pPr marL="363538" indent="0">
              <a:buNone/>
            </a:pPr>
            <a:r>
              <a:rPr lang="en-IN" sz="2200" dirty="0"/>
              <a:t> 1. Mobile App Integration</a:t>
            </a:r>
          </a:p>
          <a:p>
            <a:pPr marL="363538" indent="0">
              <a:buNone/>
            </a:pPr>
            <a:r>
              <a:rPr lang="en-IN" sz="2200" dirty="0"/>
              <a:t> 2. Automated alert system</a:t>
            </a:r>
          </a:p>
          <a:p>
            <a:pPr marL="363538" indent="0">
              <a:buNone/>
            </a:pPr>
            <a:r>
              <a:rPr lang="en-IN" sz="2200" dirty="0"/>
              <a:t> 3. To integrate and collaborate the healthcare systems</a:t>
            </a:r>
            <a:endParaRPr lang="en-US" sz="2200" dirty="0"/>
          </a:p>
        </p:txBody>
      </p:sp>
    </p:spTree>
    <p:extLst>
      <p:ext uri="{BB962C8B-B14F-4D97-AF65-F5344CB8AC3E}">
        <p14:creationId xmlns:p14="http://schemas.microsoft.com/office/powerpoint/2010/main" val="1410742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13ED7-3B7B-3DD9-F16F-AAB73926D361}"/>
              </a:ext>
            </a:extLst>
          </p:cNvPr>
          <p:cNvSpPr>
            <a:spLocks noGrp="1"/>
          </p:cNvSpPr>
          <p:nvPr>
            <p:ph type="title"/>
          </p:nvPr>
        </p:nvSpPr>
        <p:spPr>
          <a:xfrm>
            <a:off x="564792" y="901521"/>
            <a:ext cx="8596668" cy="972608"/>
          </a:xfrm>
        </p:spPr>
        <p:txBody>
          <a:bodyPr>
            <a:normAutofit/>
          </a:bodyPr>
          <a:lstStyle/>
          <a:p>
            <a:r>
              <a:rPr lang="en-US" sz="2800" dirty="0">
                <a:solidFill>
                  <a:schemeClr val="accent3">
                    <a:lumMod val="50000"/>
                  </a:schemeClr>
                </a:solidFill>
              </a:rPr>
              <a:t>Conclusion</a:t>
            </a:r>
          </a:p>
        </p:txBody>
      </p:sp>
      <p:sp>
        <p:nvSpPr>
          <p:cNvPr id="3" name="Content Placeholder 2">
            <a:extLst>
              <a:ext uri="{FF2B5EF4-FFF2-40B4-BE49-F238E27FC236}">
                <a16:creationId xmlns:a16="http://schemas.microsoft.com/office/drawing/2014/main" id="{F997F5DD-24E1-2949-E9AC-F65332FFB7D7}"/>
              </a:ext>
            </a:extLst>
          </p:cNvPr>
          <p:cNvSpPr>
            <a:spLocks noGrp="1"/>
          </p:cNvSpPr>
          <p:nvPr>
            <p:ph idx="1"/>
          </p:nvPr>
        </p:nvSpPr>
        <p:spPr>
          <a:xfrm>
            <a:off x="1029026" y="1231705"/>
            <a:ext cx="8596668" cy="5297883"/>
          </a:xfrm>
        </p:spPr>
        <p:txBody>
          <a:bodyPr>
            <a:noAutofit/>
          </a:bodyPr>
          <a:lstStyle/>
          <a:p>
            <a:pPr marL="0" indent="0">
              <a:buNone/>
            </a:pPr>
            <a:r>
              <a:rPr lang="en-IN" sz="2000" dirty="0"/>
              <a:t>     </a:t>
            </a:r>
          </a:p>
          <a:p>
            <a:pPr>
              <a:buFont typeface="Wingdings" panose="05000000000000000000" pitchFamily="2" charset="2"/>
              <a:buChar char="Ø"/>
            </a:pPr>
            <a:r>
              <a:rPr lang="en-GB" sz="2200" dirty="0"/>
              <a:t>In this study the main purpose was to analyse the COVID-19 spread in   India since the day of outbreak and pattern of spreading of this virus.</a:t>
            </a:r>
          </a:p>
          <a:p>
            <a:pPr>
              <a:buFont typeface="Wingdings" panose="05000000000000000000" pitchFamily="2" charset="2"/>
              <a:buChar char="Ø"/>
            </a:pPr>
            <a:r>
              <a:rPr lang="en-GB" sz="2200" dirty="0"/>
              <a:t>COVID-19 data analysis and visualization projects using data science holds immense potential for advancing our understanding of the pandemic. </a:t>
            </a:r>
          </a:p>
          <a:p>
            <a:pPr>
              <a:buFont typeface="Wingdings" panose="05000000000000000000" pitchFamily="2" charset="2"/>
              <a:buChar char="Ø"/>
            </a:pPr>
            <a:r>
              <a:rPr lang="en-GB" sz="2200" dirty="0"/>
              <a:t>With evolving technologies and methodologies, we anticipate more accurate predictive modelling, real-time collaboration, and innovative visualization techniques. </a:t>
            </a:r>
          </a:p>
          <a:p>
            <a:pPr>
              <a:buFont typeface="Wingdings" panose="05000000000000000000" pitchFamily="2" charset="2"/>
              <a:buChar char="Ø"/>
            </a:pPr>
            <a:r>
              <a:rPr lang="en-GB" sz="2200" dirty="0"/>
              <a:t>Ultimately, the continued evolution of these projects is instrumental in shaping effective public health strategies, fostering global collaboration, and preparing us for future health challenges.</a:t>
            </a:r>
            <a:endParaRPr lang="en-US" sz="2200" b="1" dirty="0"/>
          </a:p>
        </p:txBody>
      </p:sp>
    </p:spTree>
    <p:extLst>
      <p:ext uri="{BB962C8B-B14F-4D97-AF65-F5344CB8AC3E}">
        <p14:creationId xmlns:p14="http://schemas.microsoft.com/office/powerpoint/2010/main" val="1607073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3A1F9-403C-62CD-DAA2-5F6163B90D47}"/>
              </a:ext>
            </a:extLst>
          </p:cNvPr>
          <p:cNvSpPr>
            <a:spLocks noGrp="1"/>
          </p:cNvSpPr>
          <p:nvPr>
            <p:ph type="title"/>
          </p:nvPr>
        </p:nvSpPr>
        <p:spPr>
          <a:xfrm>
            <a:off x="1071230" y="746975"/>
            <a:ext cx="8596668" cy="476518"/>
          </a:xfrm>
        </p:spPr>
        <p:txBody>
          <a:bodyPr>
            <a:normAutofit fontScale="90000"/>
          </a:bodyPr>
          <a:lstStyle/>
          <a:p>
            <a:r>
              <a:rPr lang="en-US" sz="2800" dirty="0">
                <a:solidFill>
                  <a:schemeClr val="accent3">
                    <a:lumMod val="50000"/>
                  </a:schemeClr>
                </a:solidFill>
              </a:rPr>
              <a:t>Reference</a:t>
            </a:r>
          </a:p>
        </p:txBody>
      </p:sp>
      <p:sp>
        <p:nvSpPr>
          <p:cNvPr id="3" name="Content Placeholder 2">
            <a:extLst>
              <a:ext uri="{FF2B5EF4-FFF2-40B4-BE49-F238E27FC236}">
                <a16:creationId xmlns:a16="http://schemas.microsoft.com/office/drawing/2014/main" id="{A176B89B-914F-E869-6D74-A96FF6FFD489}"/>
              </a:ext>
            </a:extLst>
          </p:cNvPr>
          <p:cNvSpPr>
            <a:spLocks noGrp="1"/>
          </p:cNvSpPr>
          <p:nvPr>
            <p:ph idx="1"/>
          </p:nvPr>
        </p:nvSpPr>
        <p:spPr>
          <a:xfrm>
            <a:off x="1394785" y="1313645"/>
            <a:ext cx="8596668" cy="5544355"/>
          </a:xfrm>
        </p:spPr>
        <p:txBody>
          <a:bodyPr>
            <a:noAutofit/>
          </a:bodyPr>
          <a:lstStyle/>
          <a:p>
            <a:pPr marL="0" indent="0">
              <a:buNone/>
            </a:pPr>
            <a:r>
              <a:rPr lang="en-US" sz="2200" dirty="0"/>
              <a:t>1. Lyn Bartram, Michael Correll, Melanie Tory,” Untidy Data: The Unreasonable Effectiveness of Tables,” IEEE Transactions On Visualization And Computer Graphics, Vol. 28, No. 1, January 2022.</a:t>
            </a:r>
          </a:p>
          <a:p>
            <a:pPr marL="0" indent="0">
              <a:buNone/>
            </a:pPr>
            <a:r>
              <a:rPr lang="en-US" sz="2200" dirty="0"/>
              <a:t>2. fshar Shamsi, Hamzeh Asgharnezhad, Shirin Shamsi Jokandan, “An Uncertainty-Aware Transfer Learning-Based Framework For Covid-19 Diagnosis,” IEEE Transactions On Neural Networks And Learning Systems, Vol. 32, No. 4, April 2021.</a:t>
            </a:r>
          </a:p>
          <a:p>
            <a:pPr marL="0" indent="0">
              <a:buNone/>
            </a:pPr>
            <a:r>
              <a:rPr lang="en-GB" sz="2200" dirty="0"/>
              <a:t>3. Carson K. Leung, Yubo Chen, “Machine Learning and OLAP on Big COVID-19 Data,” IEEE International Conference on Big Data, Year:2020.</a:t>
            </a:r>
            <a:endParaRPr lang="en-US" sz="2200" dirty="0"/>
          </a:p>
          <a:p>
            <a:pPr marL="0" indent="0">
              <a:buNone/>
            </a:pPr>
            <a:r>
              <a:rPr lang="en-GB" sz="2200" dirty="0"/>
              <a:t>4. Carson K. Leung, Yubo Chen,” Big Data Visualization and Visual Analytics of COVID-19 Data,” 24th International Conference Information Visualization, (2020).</a:t>
            </a:r>
            <a:endParaRPr lang="en-US" sz="2200" b="1" dirty="0"/>
          </a:p>
        </p:txBody>
      </p:sp>
    </p:spTree>
    <p:extLst>
      <p:ext uri="{BB962C8B-B14F-4D97-AF65-F5344CB8AC3E}">
        <p14:creationId xmlns:p14="http://schemas.microsoft.com/office/powerpoint/2010/main" val="3678037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A31AC99-F685-C070-3C57-BF1D076408DE}"/>
              </a:ext>
            </a:extLst>
          </p:cNvPr>
          <p:cNvPicPr>
            <a:picLocks noChangeAspect="1"/>
          </p:cNvPicPr>
          <p:nvPr/>
        </p:nvPicPr>
        <p:blipFill>
          <a:blip r:embed="rId2"/>
          <a:stretch>
            <a:fillRect/>
          </a:stretch>
        </p:blipFill>
        <p:spPr>
          <a:xfrm>
            <a:off x="179811" y="1746250"/>
            <a:ext cx="9355830" cy="3365500"/>
          </a:xfrm>
          <a:prstGeom prst="rect">
            <a:avLst/>
          </a:prstGeom>
        </p:spPr>
      </p:pic>
    </p:spTree>
    <p:extLst>
      <p:ext uri="{BB962C8B-B14F-4D97-AF65-F5344CB8AC3E}">
        <p14:creationId xmlns:p14="http://schemas.microsoft.com/office/powerpoint/2010/main" val="139240594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1242</TotalTime>
  <Words>1203</Words>
  <Application>Microsoft Office PowerPoint</Application>
  <PresentationFormat>Widescreen</PresentationFormat>
  <Paragraphs>116</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Lucida Calligraphy</vt:lpstr>
      <vt:lpstr>Times New Roman</vt:lpstr>
      <vt:lpstr>Trebuchet MS</vt:lpstr>
      <vt:lpstr>Trebuchet MS (Body)</vt:lpstr>
      <vt:lpstr>Wingdings</vt:lpstr>
      <vt:lpstr>Wingdings 3</vt:lpstr>
      <vt:lpstr>Facet</vt:lpstr>
      <vt:lpstr>Covid-19 Data Analysis and Visualization using Data science</vt:lpstr>
      <vt:lpstr>5132 - Thirumalai Engineering College Kilambi, Kanchipuram. Department of Information Technology  Team member</vt:lpstr>
      <vt:lpstr>INTRODUCTION</vt:lpstr>
      <vt:lpstr>ABSTRACTION</vt:lpstr>
      <vt:lpstr>SCOPE</vt:lpstr>
      <vt:lpstr>DATA SET</vt:lpstr>
      <vt:lpstr>Existing System </vt:lpstr>
      <vt:lpstr>Proposed System </vt:lpstr>
      <vt:lpstr>System Requirements</vt:lpstr>
      <vt:lpstr>Architecture </vt:lpstr>
      <vt:lpstr>DATA FRAMES</vt:lpstr>
      <vt:lpstr>MODULES</vt:lpstr>
      <vt:lpstr>PYTHON PACKAGES</vt:lpstr>
      <vt:lpstr>SPLITTING,IMPUTATION AND INTERPOLATION</vt:lpstr>
      <vt:lpstr>DATA CLEANING</vt:lpstr>
      <vt:lpstr>TOP 10 ACTIVE CASES IN INDIA</vt:lpstr>
      <vt:lpstr>TOP 10 STATES WITH MOST DEATHS</vt:lpstr>
      <vt:lpstr>TOP 5 AFFECTED STATES IN INDIA</vt:lpstr>
      <vt:lpstr>TOP 5 VACCINATED STATES </vt:lpstr>
      <vt:lpstr>VISUALIZATION IN COVID 19 DATA ANALYSIS(TABLEU)</vt:lpstr>
      <vt:lpstr>Final Output</vt:lpstr>
      <vt:lpstr>Features &amp; Feature Enhancement</vt:lpstr>
      <vt:lpstr>Conclusion</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Intelligence Garbage Classification using Artificial Intelligences</dc:title>
  <dc:creator>owner</dc:creator>
  <cp:lastModifiedBy>DHAMODHARAN S</cp:lastModifiedBy>
  <cp:revision>29</cp:revision>
  <dcterms:created xsi:type="dcterms:W3CDTF">2023-03-29T09:03:49Z</dcterms:created>
  <dcterms:modified xsi:type="dcterms:W3CDTF">2024-03-29T12:28:28Z</dcterms:modified>
</cp:coreProperties>
</file>